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1B2A4A"/>
                </a:solidFill>
                <a:latin typeface="Aptos"/>
              </a:defRPr>
            </a:pPr>
            <a:r>
              <a:rPr sz="2200" b="0" i="0" u="none" strike="noStrike">
                <a:solidFill>
                  <a:srgbClr val="1B2A4A"/>
                </a:solidFill>
                <a:latin typeface="Aptos"/>
              </a:rPr>
              <a:t>Next 9 Markets by Transaction Volume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4C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5B6472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Germany</c:v>
                  </c:pt>
                  <c:pt idx="1">
                    <c:v>EIRE</c:v>
                  </c:pt>
                  <c:pt idx="2">
                    <c:v>France</c:v>
                  </c:pt>
                  <c:pt idx="3">
                    <c:v>Netherlands</c:v>
                  </c:pt>
                  <c:pt idx="4">
                    <c:v>Spain</c:v>
                  </c:pt>
                  <c:pt idx="5">
                    <c:v>Belgium</c:v>
                  </c:pt>
                  <c:pt idx="6">
                    <c:v>Switzerland</c:v>
                  </c:pt>
                  <c:pt idx="7">
                    <c:v>Portugal</c:v>
                  </c:pt>
                  <c:pt idx="8">
                    <c:v>Australia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17300</c:v>
                </c:pt>
                <c:pt idx="1">
                  <c:v>16200</c:v>
                </c:pt>
                <c:pt idx="2">
                  <c:v>14200</c:v>
                </c:pt>
                <c:pt idx="3">
                  <c:v>5300</c:v>
                </c:pt>
                <c:pt idx="4">
                  <c:v>4200</c:v>
                </c:pt>
                <c:pt idx="5">
                  <c:v>4100</c:v>
                </c:pt>
                <c:pt idx="6">
                  <c:v>3600</c:v>
                </c:pt>
                <c:pt idx="7">
                  <c:v>3050</c:v>
                </c:pt>
                <c:pt idx="8">
                  <c:v>1700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5B6472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7E0EE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(£M)</c:v>
                </c:pt>
              </c:strCache>
            </c:strRef>
          </c:tx>
          <c:spPr>
            <a:solidFill>
              <a:srgbClr val="4C6FA5"/>
            </a:solidFill>
            <a:ln w="31750" cap="flat">
              <a:solidFill>
                <a:srgbClr val="4C6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6FA5"/>
              </a:solidFill>
              <a:ln w="9525" cap="flat">
                <a:solidFill>
                  <a:srgbClr val="4C6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Dec-09</c:v>
                  </c:pt>
                  <c:pt idx="1">
                    <c:v>Jan-10</c:v>
                  </c:pt>
                  <c:pt idx="2">
                    <c:v>Feb-10</c:v>
                  </c:pt>
                  <c:pt idx="3">
                    <c:v>Mar-10</c:v>
                  </c:pt>
                  <c:pt idx="4">
                    <c:v>Apr-10</c:v>
                  </c:pt>
                  <c:pt idx="5">
                    <c:v>May-10</c:v>
                  </c:pt>
                  <c:pt idx="6">
                    <c:v>Jun-10</c:v>
                  </c:pt>
                  <c:pt idx="7">
                    <c:v>Jul-10</c:v>
                  </c:pt>
                  <c:pt idx="8">
                    <c:v>Aug-10</c:v>
                  </c:pt>
                  <c:pt idx="9">
                    <c:v>Sep-10</c:v>
                  </c:pt>
                  <c:pt idx="10">
                    <c:v>Oct-10</c:v>
                  </c:pt>
                  <c:pt idx="11">
                    <c:v>Nov-10</c:v>
                  </c:pt>
                  <c:pt idx="12">
                    <c:v>Dec-10</c:v>
                  </c:pt>
                  <c:pt idx="13">
                    <c:v>Jan-11</c:v>
                  </c:pt>
                  <c:pt idx="14">
                    <c:v>Feb-11</c:v>
                  </c:pt>
                  <c:pt idx="15">
                    <c:v>Mar-11</c:v>
                  </c:pt>
                  <c:pt idx="16">
                    <c:v>Apr-11</c:v>
                  </c:pt>
                  <c:pt idx="17">
                    <c:v>May-11</c:v>
                  </c:pt>
                  <c:pt idx="18">
                    <c:v>Jun-11</c:v>
                  </c:pt>
                  <c:pt idx="19">
                    <c:v>Jul-11</c:v>
                  </c:pt>
                  <c:pt idx="20">
                    <c:v>Aug-11</c:v>
                  </c:pt>
                  <c:pt idx="21">
                    <c:v>Sep-11</c:v>
                  </c:pt>
                  <c:pt idx="22">
                    <c:v>Oct-11</c:v>
                  </c:pt>
                  <c:pt idx="23">
                    <c:v>Nov-11</c:v>
                  </c:pt>
                  <c:pt idx="24">
                    <c:v>Dec-11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0.685</c:v>
                </c:pt>
                <c:pt idx="1">
                  <c:v>0.555</c:v>
                </c:pt>
                <c:pt idx="2">
                  <c:v>0.505</c:v>
                </c:pt>
                <c:pt idx="3">
                  <c:v>0.698</c:v>
                </c:pt>
                <c:pt idx="4">
                  <c:v>0.592</c:v>
                </c:pt>
                <c:pt idx="5">
                  <c:v>0.598</c:v>
                </c:pt>
                <c:pt idx="6">
                  <c:v>0.637</c:v>
                </c:pt>
                <c:pt idx="7">
                  <c:v>0.59</c:v>
                </c:pt>
                <c:pt idx="8">
                  <c:v>0.602</c:v>
                </c:pt>
                <c:pt idx="9">
                  <c:v>0.83</c:v>
                </c:pt>
                <c:pt idx="10">
                  <c:v>1.032</c:v>
                </c:pt>
                <c:pt idx="11">
                  <c:v>1.165</c:v>
                </c:pt>
                <c:pt idx="12">
                  <c:v>0.568</c:v>
                </c:pt>
                <c:pt idx="13">
                  <c:v>0.565</c:v>
                </c:pt>
                <c:pt idx="14">
                  <c:v>0.443</c:v>
                </c:pt>
                <c:pt idx="15">
                  <c:v>0.595</c:v>
                </c:pt>
                <c:pt idx="16">
                  <c:v>0.468</c:v>
                </c:pt>
                <c:pt idx="17">
                  <c:v>0.68</c:v>
                </c:pt>
                <c:pt idx="18">
                  <c:v>0.66</c:v>
                </c:pt>
                <c:pt idx="19">
                  <c:v>0.6</c:v>
                </c:pt>
                <c:pt idx="20">
                  <c:v>0.643</c:v>
                </c:pt>
                <c:pt idx="21">
                  <c:v>0.95</c:v>
                </c:pt>
                <c:pt idx="22">
                  <c:v>1.035</c:v>
                </c:pt>
                <c:pt idx="23">
                  <c:v>1.155</c:v>
                </c:pt>
                <c:pt idx="24">
                  <c:v>0.518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5B6472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1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1B2A4A"/>
                    </a:solidFill>
                    <a:latin typeface="Aptos"/>
                  </a:defRPr>
                </a:pPr>
                <a:r>
                  <a:rPr sz="1600" b="0" i="0" u="none" strike="noStrike">
                    <a:solidFill>
                      <a:srgbClr val="1B2A4A"/>
                    </a:solidFill>
                    <a:latin typeface="Aptos"/>
                  </a:rPr>
                  <a:t>Total Sales</a:t>
                </a:r>
              </a:p>
            </c:rich>
          </c:tx>
          <c:layout/>
          <c:overlay val="0"/>
        </c:title>
        <c:numFmt formatCode="£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472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(£K)</c:v>
                </c:pt>
              </c:strCache>
            </c:strRef>
          </c:tx>
          <c:spPr>
            <a:solidFill>
              <a:srgbClr val="4C6FA5"/>
            </a:solidFill>
            <a:effectLst/>
          </c:spPr>
          <c:invertIfNegative val="0"/>
          <c:dLbls>
            <c:numFmt formatCode="£0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5B6472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C6FA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922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PAPER CHAIN KIT 50'S CHRISTMAS</c:v>
                  </c:pt>
                  <c:pt idx="1">
                    <c:v>MEDIUM CERAMIC TOP STORAGE JAR</c:v>
                  </c:pt>
                  <c:pt idx="2">
                    <c:v>PARTY BUNTING</c:v>
                  </c:pt>
                  <c:pt idx="3">
                    <c:v>ASSORTED COLOUR BIRD ORNAMENT</c:v>
                  </c:pt>
                  <c:pt idx="4">
                    <c:v>POSTAGE</c:v>
                  </c:pt>
                  <c:pt idx="5">
                    <c:v>JUMBO BAG RED RETROSPOT</c:v>
                  </c:pt>
                  <c:pt idx="6">
                    <c:v>Manual</c:v>
                  </c:pt>
                  <c:pt idx="7">
                    <c:v>PAPER CRAFT, LITTLE BIRDIE</c:v>
                  </c:pt>
                  <c:pt idx="8">
                    <c:v>WHITE HANGING HEART T-LIGHT HOLDER</c:v>
                  </c:pt>
                  <c:pt idx="9">
                    <c:v>REGENCY CAKESTAND 3 TIER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</c:v>
                </c:pt>
                <c:pt idx="1">
                  <c:v>81</c:v>
                </c:pt>
                <c:pt idx="2">
                  <c:v>103</c:v>
                </c:pt>
                <c:pt idx="3">
                  <c:v>123</c:v>
                </c:pt>
                <c:pt idx="4">
                  <c:v>124</c:v>
                </c:pt>
                <c:pt idx="5">
                  <c:v>134</c:v>
                </c:pt>
                <c:pt idx="6">
                  <c:v>152</c:v>
                </c:pt>
                <c:pt idx="7">
                  <c:v>168</c:v>
                </c:pt>
                <c:pt idx="8">
                  <c:v>247</c:v>
                </c:pt>
                <c:pt idx="9">
                  <c:v>277</c:v>
                </c:pt>
              </c:numCache>
            </c:numRef>
          </c:val>
        </c:ser>
        <c:dLbls>
          <c:numFmt formatCode="£0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5B6472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7E0EE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1B2A4A"/>
                </a:solidFill>
                <a:latin typeface="Aptos"/>
              </a:defRPr>
            </a:pPr>
            <a:r>
              <a:rPr sz="2200" b="0" i="0" u="none" strike="noStrike">
                <a:solidFill>
                  <a:srgbClr val="1B2A4A"/>
                </a:solidFill>
                <a:latin typeface="Aptos"/>
              </a:rPr>
              <a:t>Inertia vs Number of Clusters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4C6FA5"/>
            </a:solidFill>
            <a:ln w="31750" cap="flat">
              <a:solidFill>
                <a:srgbClr val="4C6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C6FA5"/>
              </a:solidFill>
              <a:ln w="9525" cap="flat">
                <a:solidFill>
                  <a:srgbClr val="4C6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8600</c:v>
                </c:pt>
                <c:pt idx="1">
                  <c:v>6350</c:v>
                </c:pt>
                <c:pt idx="2">
                  <c:v>4930</c:v>
                </c:pt>
                <c:pt idx="3">
                  <c:v>4100</c:v>
                </c:pt>
                <c:pt idx="4">
                  <c:v>3560</c:v>
                </c:pt>
                <c:pt idx="5">
                  <c:v>3200</c:v>
                </c:pt>
                <c:pt idx="6">
                  <c:v>2900</c:v>
                </c:pt>
                <c:pt idx="7">
                  <c:v>2650</c:v>
                </c:pt>
                <c:pt idx="8">
                  <c:v>2450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1B2A4A"/>
                    </a:solidFill>
                    <a:latin typeface="Aptos"/>
                  </a:defRPr>
                </a:pPr>
                <a:r>
                  <a:rPr sz="1600" b="0" i="0" u="none" strike="noStrike">
                    <a:solidFill>
                      <a:srgbClr val="1B2A4A"/>
                    </a:solidFill>
                    <a:latin typeface="Aptos"/>
                  </a:rPr>
                  <a:t>Number of 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472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1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1B2A4A"/>
                    </a:solidFill>
                    <a:latin typeface="Aptos"/>
                  </a:defRPr>
                </a:pPr>
                <a:r>
                  <a:rPr sz="1600" b="0" i="0" u="none" strike="noStrike">
                    <a:solidFill>
                      <a:srgbClr val="1B2A4A"/>
                    </a:solidFill>
                    <a:latin typeface="Aptos"/>
                  </a:rPr>
                  <a:t>Inertia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472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5B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C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Cluster 0</c:v>
                  </c:pt>
                  <c:pt idx="1">
                    <c:v>Cluster 1</c:v>
                  </c:pt>
                  <c:pt idx="2">
                    <c:v>Cluster 2</c:v>
                  </c:pt>
                  <c:pt idx="3">
                    <c:v>Cluster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1192</c:v>
                </c:pt>
                <c:pt idx="1">
                  <c:v>1972</c:v>
                </c:pt>
                <c:pt idx="2">
                  <c:v>1249</c:v>
                </c:pt>
                <c:pt idx="3">
                  <c:v>1465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E0EE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472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A"/>
                </a:solidFill>
                <a:latin typeface="Aptos"/>
              </a:defRPr>
            </a:pPr>
            <a:r>
              <a:rPr sz="1600" b="0" i="0" u="none" strike="noStrike">
                <a:solidFill>
                  <a:srgbClr val="1B2A4A"/>
                </a:solidFill>
                <a:latin typeface="Aptos"/>
              </a:rPr>
              <a:t>Customers per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B25B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5B6472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5B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C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At Risk / Low Value</c:v>
                  </c:pt>
                  <c:pt idx="1">
                    <c:v>Loyal Customers</c:v>
                  </c:pt>
                  <c:pt idx="2">
                    <c:v>Recent / Developing</c:v>
                  </c:pt>
                  <c:pt idx="3">
                    <c:v>Champions / High Value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1972</c:v>
                </c:pt>
                <c:pt idx="1">
                  <c:v>1465</c:v>
                </c:pt>
                <c:pt idx="2">
                  <c:v>1249</c:v>
                </c:pt>
                <c:pt idx="3">
                  <c:v>1192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5B6472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7E0EE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21E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PROJECT   ·   CUSTOMER ANALYTICS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Retail Customer Segmentation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Analysis &amp; K-Means Clustering on the Online Retail II Dataset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1.07M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= 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0.365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66760" y="502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9601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 Purnasri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23341A05F0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1527048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581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K. Anusha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1810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23341A05D3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66760" y="2148840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2037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 Jyotsna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2432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23341A05A8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66760" y="2770632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8254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P. Jahnavi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054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23341A05J5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3392424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447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K. Neelima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23341A4258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014216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069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Sai Madhuri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23341A4226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66760" y="4636008"/>
            <a:ext cx="320040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690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K. Pranathi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4919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23341A4242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path from raw transactions to actionable customer segments.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09397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58775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300837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segmentation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98216" y="27203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72536" y="196596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7128" y="209397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37128" y="258775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37128" y="300837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transactions to valid sales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2112" y="27203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6432" y="196596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1024" y="209397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61024" y="258775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61024" y="300837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Country, sales &amp; product patterns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46007" y="27203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20327" y="196596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4919" y="209397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84919" y="258775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RFM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84919" y="300837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Recency, Frequency &amp; Monetary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419709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" y="469087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13232" y="511149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transform &amp; scaling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98216" y="48234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72536" y="40690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37128" y="419709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537128" y="469087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537128" y="511149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K &amp; evaluating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22112" y="48234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96432" y="40690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61024" y="419709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361024" y="469087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361024" y="511149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business-friendly personas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46007" y="48234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20327" y="40690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84919" y="4197096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184919" y="4690872"/>
            <a:ext cx="229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184919" y="5111496"/>
            <a:ext cx="229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marketing strategy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59618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 and RFM detail are presented across dedicated slides for readability.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customer is worth the same marketing effort. Treated in bulk, two years of online retail transactions hide who is driving revenue — and who is about to churn.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22728" cy="2743200"/>
          </a:xfrm>
          <a:prstGeom prst="roundRect">
            <a:avLst>
              <a:gd name="adj" fmla="val 278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585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222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Behaviour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2220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each customer using Recency, Frequency &amp; Monetary value.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72536" y="2057400"/>
            <a:ext cx="2622728" cy="2743200"/>
          </a:xfrm>
          <a:prstGeom prst="roundRect">
            <a:avLst>
              <a:gd name="adj" fmla="val 278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3704" y="22585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73704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3704" y="2926080"/>
            <a:ext cx="222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 with K-Means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73704" y="3566160"/>
            <a:ext cx="2220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customers into meaningful segments via unsupervised clustering.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6432" y="2057400"/>
            <a:ext cx="2622728" cy="2743200"/>
          </a:xfrm>
          <a:prstGeom prst="roundRect">
            <a:avLst>
              <a:gd name="adj" fmla="val 278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2585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9760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7600" y="2926080"/>
            <a:ext cx="222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Personas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97600" y="3566160"/>
            <a:ext cx="2220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statistical clusters into business-friendly customer personas.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20327" y="2057400"/>
            <a:ext cx="2622728" cy="2743200"/>
          </a:xfrm>
          <a:prstGeom prst="roundRect">
            <a:avLst>
              <a:gd name="adj" fmla="val 278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21495" y="22585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221495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21495" y="2926080"/>
            <a:ext cx="222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Strategy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21495" y="3566160"/>
            <a:ext cx="2220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targeted retention, loyalty and win-back actions.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297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5321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· K = 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069080" y="50749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C9922E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51297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FFF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QUALITY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51960" y="5321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Silhouette Score = 0.365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 — Online Retail 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Transaction-level records from a UK-based online gift retailer, spanning Dec 2009 – Dec 2011, with invoices, products, quantities, prices, customers and countries.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2728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84832"/>
            <a:ext cx="2348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1,067,371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15768"/>
            <a:ext cx="243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TRANSACTION ROWS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2536" y="1965960"/>
            <a:ext cx="2622728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9696" y="2084832"/>
            <a:ext cx="2348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63976" y="2715768"/>
            <a:ext cx="243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6432" y="1965960"/>
            <a:ext cx="2622728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3592" y="2084832"/>
            <a:ext cx="2348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87872" y="2715768"/>
            <a:ext cx="243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REPRESENTED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20327" y="1965960"/>
            <a:ext cx="2622728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7487" y="2084832"/>
            <a:ext cx="2348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5,878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11767" y="2715768"/>
            <a:ext cx="243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CUSTOMERS (CLEANED)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COLUMNS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13048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13048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177540" y="3813048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4700" y="3813048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StockCode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288536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88536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177540" y="4288536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4700" y="4288536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764024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764024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InvoiceDate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177540" y="4764024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4700" y="4764024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239512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39512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177540" y="5239512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4700" y="5239512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035040" y="342900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3895344"/>
            <a:ext cx="82296" cy="82296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758184"/>
            <a:ext cx="5379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243,007 rows are missing a Customer ID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35040" y="4352544"/>
            <a:ext cx="82296" cy="82296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4215384"/>
            <a:ext cx="5379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34,335 fully duplicate rows were found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4809744"/>
            <a:ext cx="82296" cy="82296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672584"/>
            <a:ext cx="5379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Quantity / Price values indicate returns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035040" y="5266944"/>
            <a:ext cx="82296" cy="82296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5129784"/>
            <a:ext cx="5379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starting with “C” are cancellations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 Data Types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 Invoice to string; parse InvoiceDate to datetime.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39514" y="23088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3834" y="1600200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6714" y="1783080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496714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96714" y="2286000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Remove Duplicates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6714" y="2651760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34,335 fully duplicated rows dropped.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04709" y="23088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9029" y="1600200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1909" y="1783080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8261909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61909" y="2286000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 Missing Values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1909" y="2651760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missing Customer ID, InvoiceDate, Quantity or Price removed.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30752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4233672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Exclude Cancellations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599432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starting with “C” (returns) filtered out.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39514" y="42565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13834" y="3547872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6714" y="3730752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29" name="Text 27"/>
          <p:cNvSpPr/>
          <p:nvPr/>
        </p:nvSpPr>
        <p:spPr>
          <a:xfrm>
            <a:off x="4496714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96714" y="4233672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Valid Sales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96714" y="4599432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rows with Quantity &gt; 0 and Price &gt; 0.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04709" y="42565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79029" y="3547872"/>
            <a:ext cx="3564026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1909" y="3730752"/>
            <a:ext cx="420624" cy="420624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35" name="Text 33"/>
          <p:cNvSpPr/>
          <p:nvPr/>
        </p:nvSpPr>
        <p:spPr>
          <a:xfrm>
            <a:off x="8261909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261909" y="4233672"/>
            <a:ext cx="31982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TotalAmount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61909" y="4599432"/>
            <a:ext cx="3198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TotalAmount = Quantity × Price, used for Monetary value.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513832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513832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1,067,371 raw rows</a:t>
            </a:r>
            <a:pPr indent="0" marL="0">
              <a:buNone/>
            </a:pPr>
            <a:r>
              <a:rPr lang="en-US" sz="180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779,425 clean transaction rows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across 5,878 unique customers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Countries by Transactions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activity is concentrated in a small number of markets, with the UK dominating the dataset.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DOMINANT 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United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Kingdom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~700,000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than 30x the volume of the next closest market — shown separately so the remaining nine stay readable.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069080" y="1920240"/>
          <a:ext cx="7573975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Sales Trend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sales fluctuate over time, revealing strong changes in purchase intensity and seasonality.</a:t>
            </a:r>
            <a:endParaRPr lang="en-US" sz="1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54420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67162" y="1828800"/>
            <a:ext cx="327589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367162" y="2286000"/>
            <a:ext cx="3275893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50042" y="2286000"/>
            <a:ext cx="29101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rise sharply into Oct–Nov 2010, peaking near November.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67162" y="3383280"/>
            <a:ext cx="3275893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50042" y="3383280"/>
            <a:ext cx="29101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similar year-end uplift appears in Sep–Nov 2011.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367162" y="4480560"/>
            <a:ext cx="3275893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0042" y="4480560"/>
            <a:ext cx="29101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sales occur around October–November, indicating strong seasonality.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Products by Sales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group of products contributes disproportionately to total sales value.</a:t>
            </a:r>
            <a:endParaRPr lang="en-US" sz="1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94415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Quantity vs Price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transactions sit at lower quantities and prices, with a small number of visible outliers.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223760" cy="4398784"/>
          </a:xfrm>
          <a:prstGeom prst="roundRect">
            <a:avLst>
              <a:gd name="adj" fmla="val 1663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6" name="Image 0" descr="/home/claude/work/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6949440" cy="4124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828800"/>
            <a:ext cx="35963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046720" y="2286000"/>
            <a:ext cx="3596335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2286000"/>
            <a:ext cx="3230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transactions have low quantity and low price.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46720" y="3246120"/>
            <a:ext cx="3596335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3246120"/>
            <a:ext cx="3230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few extreme transactions create outliers.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0" y="4206240"/>
            <a:ext cx="3596335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206240"/>
            <a:ext cx="3230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is necessary before clustering.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RFM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behavioural measures convert transaction history into customer-level signals.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4789" y="21945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894789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Recency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since the customer's most recent purchase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C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 — recently active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192024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68436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21098" y="315468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66818" y="361188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unique orders (invoices) placed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66818" y="443484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8258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C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 — repeat buyer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797" y="192024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3946" y="21945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473946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10677" y="315468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Monetary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356397" y="361188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amount spent across all orders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56397" y="4434840"/>
            <a:ext cx="305805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7837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C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 — high revenue value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History  →  RFM Features  →  Customer Behaviour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Recency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 measures how many days have passed since each customer's most recent purchase.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498080" cy="3827470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6" name="Image 0" descr="/home/claude/work/unpacked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7223760" cy="355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828800"/>
            <a:ext cx="3322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321040" y="2286000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86000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Concentrated at low recency — many recently active customers.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21040" y="3563112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3563112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 right tail extends to very high recency (fading customers).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21040" y="4840224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840224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recency is favourable and key to identifying churn risk.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counts the number of unique orders placed by each customer.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498080" cy="3827470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6" name="Image 0" descr="/home/claude/work/unpacked/ppt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7223760" cy="355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828800"/>
            <a:ext cx="3322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321040" y="2286000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86000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customers have a small number of purchases.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21040" y="3563112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3563112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relatively small group orders very frequently.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21040" y="4840224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840224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right-skew separates occasional shoppers from repeat buyers.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Monetary Value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 value represents the total amount spent by each customer.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498080" cy="3834707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6" name="Image 0" descr="/home/claude/work/unpacked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7223760" cy="35603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828800"/>
            <a:ext cx="3322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321040" y="2286000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86000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customers are concentrated at lower spending levels.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21040" y="3563112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3563112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number of high-value customers create a long right tail.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21040" y="4840224"/>
            <a:ext cx="3322015" cy="1139952"/>
          </a:xfrm>
          <a:prstGeom prst="roundRect">
            <a:avLst>
              <a:gd name="adj" fmla="val 6417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840224"/>
            <a:ext cx="2992831" cy="1139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transformation prevents extreme spenders from dominating distance calculations.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PREPARING FOR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Engineering: Transform &amp;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values are heavily right-skewed — a few customers spend or order far more than the rest. Two steps make the data cluster-ready.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7209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19043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RFM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35849" y="196596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0441" y="1965960"/>
            <a:ext cx="2087209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1881" y="1965960"/>
            <a:ext cx="19043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Transformation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87651" y="196596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52243" y="1965960"/>
            <a:ext cx="2087209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683" y="1965960"/>
            <a:ext cx="19043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Skew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9452" y="196596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04044" y="1965960"/>
            <a:ext cx="2087209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5484" y="1965960"/>
            <a:ext cx="19043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Scaling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91254" y="196596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55846" y="1965960"/>
            <a:ext cx="2087209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7286" y="1965960"/>
            <a:ext cx="19043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Ready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227832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 Transformation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np.log1p() is applied to Recency, Frequency and Monetary to compress extreme values and reduce skew.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306324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1588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7368" y="3227832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Scaling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61608" y="365760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StandardScaler centers each feature to mean 0 and standard deviation 1, so no single feature dominates distance calculations.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809744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  (mean)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3179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201.3 days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22978" y="475488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5858" y="4809744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 (mean)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05858" y="5029200"/>
            <a:ext cx="3179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6.3 orders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97317" y="475488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0197" y="4809744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  (mean)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80197" y="5029200"/>
            <a:ext cx="3179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$2,955.90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Elbow Method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22314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376590" y="3072384"/>
            <a:ext cx="219456" cy="219456"/>
          </a:xfrm>
          <a:prstGeom prst="ellipse">
            <a:avLst/>
          </a:prstGeom>
          <a:solidFill>
            <a:srgbClr val="C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73670" y="23317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73670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Elbow Point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4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90994" y="1508760"/>
            <a:ext cx="345206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90994" y="1810512"/>
            <a:ext cx="345206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was trained for K = 2 through 10, plotting inertia against K. Inertia always decreases as K grows — the goal is the point where more clusters stop giving a meaningful improvement.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90994" y="3337560"/>
            <a:ext cx="3452061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73874" y="3520440"/>
            <a:ext cx="30863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bend appears at K = 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73874" y="3931920"/>
            <a:ext cx="308630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Inertia drops sharply from K=2 to K=4, then flattens. Four clusters capture the natural structure in customer behaviour without over-fragmenting the base.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Clustering &amp;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0.365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Indicates reasonably well-separated, cohesive clusters — solid performance for real-world behavioural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782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2702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0782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(K)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42702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640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N_INIT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956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0" y="47091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47640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0360" y="4956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1508760"/>
            <a:ext cx="6522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PER CLUSTER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120640" y="1810512"/>
          <a:ext cx="6522415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120640" y="4800600"/>
            <a:ext cx="6522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5,878 customers were assigned to exactly one of four clusters based on scaled, log-transformed RFM values.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CLUSTERS TO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4 Customer Segments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6624" cy="2240280"/>
          </a:xfrm>
          <a:prstGeom prst="roundRect">
            <a:avLst>
              <a:gd name="adj" fmla="val 3265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645920"/>
            <a:ext cx="476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Champions / High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9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0  ·  1,192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27.5 days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5621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19.3 orders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55621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88282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$10,756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88282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044952"/>
            <a:ext cx="489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Bought very recently, order often, and spend the most by far.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6432" y="1508760"/>
            <a:ext cx="5446624" cy="2240280"/>
          </a:xfrm>
          <a:prstGeom prst="roundRect">
            <a:avLst>
              <a:gd name="adj" fmla="val 3265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5032" y="1728216"/>
            <a:ext cx="146304" cy="146304"/>
          </a:xfrm>
          <a:prstGeom prst="ellipse">
            <a:avLst/>
          </a:prstGeom>
          <a:solidFill>
            <a:srgbClr val="2E7D8C"/>
          </a:solidFill>
          <a:ln/>
        </p:spPr>
      </p:sp>
      <p:sp>
        <p:nvSpPr>
          <p:cNvPr id="17" name="Text 15"/>
          <p:cNvSpPr/>
          <p:nvPr/>
        </p:nvSpPr>
        <p:spPr>
          <a:xfrm>
            <a:off x="6671920" y="1645920"/>
            <a:ext cx="476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 Customers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0752" y="2011680"/>
            <a:ext cx="489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3  ·  1,465 customers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0752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228.3 days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0752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03413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5.1 orders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03413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36074" y="2404872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$1,957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36074" y="2715768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0752" y="3044952"/>
            <a:ext cx="489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 recency with steady order history and solid spend.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5446624" cy="2240280"/>
          </a:xfrm>
          <a:prstGeom prst="roundRect">
            <a:avLst>
              <a:gd name="adj" fmla="val 3265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169664"/>
            <a:ext cx="146304" cy="146304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128" y="4087368"/>
            <a:ext cx="476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Recent / Developing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4453128"/>
            <a:ext cx="489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2  ·  1,249 customers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28.4 days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55621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3.0 orders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55621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88282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$848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88282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" y="5486400"/>
            <a:ext cx="489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Recently active but still building frequency and spend.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96432" y="3950208"/>
            <a:ext cx="5446624" cy="2240280"/>
          </a:xfrm>
          <a:prstGeom prst="roundRect">
            <a:avLst>
              <a:gd name="adj" fmla="val 3265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25032" y="4169664"/>
            <a:ext cx="146304" cy="146304"/>
          </a:xfrm>
          <a:prstGeom prst="ellipse">
            <a:avLst/>
          </a:prstGeom>
          <a:solidFill>
            <a:srgbClr val="B25B44"/>
          </a:solidFill>
          <a:ln/>
        </p:spPr>
      </p:sp>
      <p:sp>
        <p:nvSpPr>
          <p:cNvPr id="39" name="Text 37"/>
          <p:cNvSpPr/>
          <p:nvPr/>
        </p:nvSpPr>
        <p:spPr>
          <a:xfrm>
            <a:off x="6671920" y="4087368"/>
            <a:ext cx="476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Risk / Low Value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70752" y="4453128"/>
            <a:ext cx="489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5B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1  ·  1,972 customers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70752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395.9 days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0752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03413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 orders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3413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736074" y="4846320"/>
            <a:ext cx="15412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$318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36074" y="5157216"/>
            <a:ext cx="15412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70752" y="5486400"/>
            <a:ext cx="489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Longest time since last purchase, rarely order — in danger of churning.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SEEING THE SEGMENTS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 Visualization — Recency vs Monetary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223760" cy="4671560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5" name="Image 0" descr="/home/claude/work/unpacked/ppt/media/image-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6949440" cy="439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508760"/>
            <a:ext cx="3596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THE PLOT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1810512"/>
            <a:ext cx="3596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dot is one customer, plotted by days since last purchase (x-axis) against total amount spent (y-axis), colored by assigned segment.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0" y="2542032"/>
            <a:ext cx="35963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Champions (blue)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2743200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spend, most recent purchases — including outliers above $100k.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3227832"/>
            <a:ext cx="35963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 Customers (orange)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3429000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 recency range with visibly higher spend than green/red at same recency.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3913632"/>
            <a:ext cx="35963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/ Developing (green)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0" y="4114800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Packed near recent purchases but low on spend so far.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4599432"/>
            <a:ext cx="35963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 / Low Value (red)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band at high recency, flat near zero spend.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 Separation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C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after log transformation and standard scaling.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4596289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pic>
        <p:nvPicPr>
          <p:cNvPr id="6" name="Image 0" descr="/home/claude/work/unpacked/ppt/media/image-1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6035040" cy="4321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1874520"/>
            <a:ext cx="4510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0" y="2176272"/>
            <a:ext cx="45107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exact space K-Means clusters in. It shows how cleanly the algorithm separates customers once extreme values are compressed and features are on equal footing.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0" y="3200400"/>
            <a:ext cx="45107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(0 / Champions): high scaled monetary value across the recency range.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0" y="3767328"/>
            <a:ext cx="45107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(1 / At Risk): dominates high scaled recency, low monetary.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0" y="4334256"/>
            <a:ext cx="45107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(2 / Recent/Developing): clusters left, low-to-mid monetary.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32320" y="4901184"/>
            <a:ext cx="45107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(3 / Loyal): middle-right band with moderate monetary value.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0" y="5486400"/>
            <a:ext cx="45107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i="1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Clear, mostly non-overlapping regions confirm the segments are behaviourally distinct — consistent with the 0.365 silhouette score.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INSIGHT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 Distribution &amp; Recommendations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5257800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 / Low Value is the largest segment — 1,972 customers — the biggest re-engagement opportunity.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20640" y="1554480"/>
            <a:ext cx="6522415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1709928"/>
            <a:ext cx="137160" cy="1371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645920"/>
            <a:ext cx="26089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94960" y="2011680"/>
            <a:ext cx="5973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rewards &amp; early access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905695" y="1773936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05695" y="1773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20640" y="2578608"/>
            <a:ext cx="6522415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49240" y="2734056"/>
            <a:ext cx="137160" cy="137160"/>
          </a:xfrm>
          <a:prstGeom prst="ellipse">
            <a:avLst/>
          </a:prstGeom>
          <a:solidFill>
            <a:srgbClr val="2E7D8C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670048"/>
            <a:ext cx="26089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 Customers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94960" y="3035808"/>
            <a:ext cx="5973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Cross-sell &amp; loyalty points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905695" y="279806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2E7D8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5695" y="27980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3602736"/>
            <a:ext cx="6522415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49240" y="3758184"/>
            <a:ext cx="137160" cy="137160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3694176"/>
            <a:ext cx="26089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Recent / Developing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94960" y="4059936"/>
            <a:ext cx="5973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First-repeat purchase incentives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905695" y="382219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5B8C6E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05695" y="38221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120640" y="4626864"/>
            <a:ext cx="6522415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49240" y="4782312"/>
            <a:ext cx="137160" cy="137160"/>
          </a:xfrm>
          <a:prstGeom prst="ellipse">
            <a:avLst/>
          </a:prstGeom>
          <a:solidFill>
            <a:srgbClr val="B25B44"/>
          </a:solidFill>
          <a:ln/>
        </p:spPr>
      </p:sp>
      <p:sp>
        <p:nvSpPr>
          <p:cNvPr id="27" name="Text 24"/>
          <p:cNvSpPr/>
          <p:nvPr/>
        </p:nvSpPr>
        <p:spPr>
          <a:xfrm>
            <a:off x="5577840" y="4718304"/>
            <a:ext cx="26089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Risk / Low Value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394960" y="5084064"/>
            <a:ext cx="5973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Win-back campaigns &amp; discounts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905695" y="4846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B25B44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05695" y="4846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REACTIVATE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CUSTOMER SEGMENTATION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Transactions to Actionable Customer Segments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1.07M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21216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9232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952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779K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21808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824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5544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5,878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2400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50416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6136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22992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51008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6728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23583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51599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7319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Segments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24175" y="196596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52191" y="1965960"/>
            <a:ext cx="1490864" cy="914400"/>
          </a:xfrm>
          <a:prstGeom prst="roundRect">
            <a:avLst>
              <a:gd name="adj" fmla="val 8000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7911" y="1965960"/>
            <a:ext cx="139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74720"/>
            <a:ext cx="3515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K-Means, K = 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38218" y="32461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8218" y="3474720"/>
            <a:ext cx="3515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0.365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338218" y="40690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27797" y="32461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21E38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7797" y="3474720"/>
            <a:ext cx="3515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5,878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127797" y="40690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9AB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SEGMENTED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“RFM + K-Means converts transaction data into actionable customer strategies.”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Customer Segmentation — RFM Analysis &amp; K-Means Clustering</dc:title>
  <dc:subject>PptxGenJS Presentation</dc:subject>
  <dc:creator>Online Retail RFM &amp; K-Means Project</dc:creator>
  <cp:lastModifiedBy>Online Retail RFM &amp; K-Means Project</cp:lastModifiedBy>
  <cp:revision>1</cp:revision>
  <dcterms:created xsi:type="dcterms:W3CDTF">2026-09-08T04:30:30Z</dcterms:created>
  <dcterms:modified xsi:type="dcterms:W3CDTF">2026-09-08T04:30:30Z</dcterms:modified>
</cp:coreProperties>
</file>